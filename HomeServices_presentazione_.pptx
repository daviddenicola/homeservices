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23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3D4E7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3D4E78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HomeServices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 il professionista giusto, senza complicazioni.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piattaforma web per l'incontro tra clienti e professionisti dei servizi per la casa.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realizzato in team durante il corso Java Web.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HomeServices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Passaparola a una Piattaforma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dispersiva tra passaparola e social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garanzia su affidabilità e competenze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incrociare disponibilità reali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Nessuno storico di recensioni verificabili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323D5B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8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L'approccio HomeServices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224028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filtrata per città, professione e voto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 verificati con rating e recensioni reali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di disponibilità integrato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richieste, task e feedback in un unico posto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HomeServices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Attori, Una Piattaforma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ruolo ha un'esperienza e degli strumenti pensati su misura.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02152" cy="452628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5B8C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136392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 il professionista giusto.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CHIAVE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233672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filtrata, calendario di prenotazione, recensioni.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87952" y="1600200"/>
            <a:ext cx="3502152" cy="452628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07992" y="1920240"/>
            <a:ext cx="594360" cy="594360"/>
          </a:xfrm>
          <a:prstGeom prst="ellipse">
            <a:avLst/>
          </a:prstGeom>
          <a:solidFill>
            <a:srgbClr val="CAA229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39512" y="194767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Professionista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07992" y="283464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A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07992" y="3136392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le richieste e crescere.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07992" y="393192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A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CHIAVE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07992" y="4233672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operativa, gestione disponibilità, profilo pubblico.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18704" y="1600200"/>
            <a:ext cx="3502152" cy="452628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38744" y="1920240"/>
            <a:ext cx="594360" cy="594360"/>
          </a:xfrm>
          <a:prstGeom prst="ellipse">
            <a:avLst/>
          </a:prstGeom>
          <a:solidFill>
            <a:srgbClr val="B7504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8744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970264" y="194767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38744" y="283464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7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38744" y="3136392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Garantire sicurezza e qualità.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38744" y="393192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7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CHIAVE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38744" y="4233672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segnalazioni, approvazione profili Pro, monitoraggio.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HomeServices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Primo Contatto: la Ricerca Professionisti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7123176" cy="3372071"/>
          </a:xfrm>
          <a:prstGeom prst="roundRect">
            <a:avLst>
              <a:gd name="adj" fmla="val 1627"/>
            </a:avLst>
          </a:prstGeom>
          <a:solidFill>
            <a:srgbClr val="FFFFFF"/>
          </a:solidFill>
          <a:ln w="12700">
            <a:solidFill>
              <a:srgbClr val="E2E2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/home/claude/proj/hs_extract/img-0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44168"/>
            <a:ext cx="6903720" cy="3152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481328"/>
            <a:ext cx="201168" cy="201168"/>
          </a:xfrm>
          <a:prstGeom prst="ellipse">
            <a:avLst/>
          </a:prstGeom>
          <a:solidFill>
            <a:srgbClr val="436EDE"/>
          </a:solidFill>
          <a:ln/>
        </p:spPr>
      </p:sp>
      <p:sp>
        <p:nvSpPr>
          <p:cNvPr id="6" name="Text 3"/>
          <p:cNvSpPr/>
          <p:nvPr/>
        </p:nvSpPr>
        <p:spPr>
          <a:xfrm>
            <a:off x="8257032" y="1371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libera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57032" y="175564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Un'unica barra di ricerca per nome o professione (es. “idraulico”).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909560" y="2898648"/>
            <a:ext cx="201168" cy="201168"/>
          </a:xfrm>
          <a:prstGeom prst="ellipse">
            <a:avLst/>
          </a:prstGeom>
          <a:solidFill>
            <a:srgbClr val="436EDE"/>
          </a:solidFill>
          <a:ln/>
        </p:spPr>
      </p:sp>
      <p:sp>
        <p:nvSpPr>
          <p:cNvPr id="9" name="Text 6"/>
          <p:cNvSpPr/>
          <p:nvPr/>
        </p:nvSpPr>
        <p:spPr>
          <a:xfrm>
            <a:off x="8257032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 avanzati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57032" y="31729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Città, voto minimo, data disponibile e fascia oraria, con ordinamento dei risultati.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09560" y="4315968"/>
            <a:ext cx="201168" cy="201168"/>
          </a:xfrm>
          <a:prstGeom prst="ellipse">
            <a:avLst/>
          </a:prstGeom>
          <a:solidFill>
            <a:srgbClr val="436EDE"/>
          </a:solidFill>
          <a:ln/>
        </p:spPr>
      </p:sp>
      <p:sp>
        <p:nvSpPr>
          <p:cNvPr id="12" name="Text 9"/>
          <p:cNvSpPr/>
          <p:nvPr/>
        </p:nvSpPr>
        <p:spPr>
          <a:xfrm>
            <a:off x="8257032" y="4206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professionista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459028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Professioni, città, tariffa oraria, email e mezzi a colpo d'occhio, con rating e accesso al profilo.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HomeServices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Fondamenta Sicure: Accesso e Identità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2587752" cy="448056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31036" y="1965960"/>
            <a:ext cx="640080" cy="640080"/>
          </a:xfrm>
          <a:prstGeom prst="ellipse">
            <a:avLst/>
          </a:prstGeom>
          <a:solidFill>
            <a:srgbClr val="436EDE"/>
          </a:solidFill>
          <a:ln/>
        </p:spPr>
      </p:sp>
      <p:sp>
        <p:nvSpPr>
          <p:cNvPr id="5" name="Text 3"/>
          <p:cNvSpPr/>
          <p:nvPr/>
        </p:nvSpPr>
        <p:spPr>
          <a:xfrm>
            <a:off x="143103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Registrazione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221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di codice fiscale, città e professione su liste controllate.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20574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6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587752" cy="448056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19956" y="1965960"/>
            <a:ext cx="640080" cy="640080"/>
          </a:xfrm>
          <a:prstGeom prst="ellipse">
            <a:avLst/>
          </a:prstGeom>
          <a:solidFill>
            <a:srgbClr val="436EDE"/>
          </a:solidFill>
          <a:ln/>
        </p:spPr>
      </p:sp>
      <p:sp>
        <p:nvSpPr>
          <p:cNvPr id="11" name="Text 9"/>
          <p:cNvSpPr/>
          <p:nvPr/>
        </p:nvSpPr>
        <p:spPr>
          <a:xfrm>
            <a:off x="421995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283464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sicura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29000" y="3383280"/>
            <a:ext cx="2221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in tempo reale dei criteri di complessità e unicità email.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52160" y="20574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6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587752" cy="448056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08876" y="1965960"/>
            <a:ext cx="640080" cy="640080"/>
          </a:xfrm>
          <a:prstGeom prst="ellipse">
            <a:avLst/>
          </a:prstGeom>
          <a:solidFill>
            <a:srgbClr val="436EDE"/>
          </a:solidFill>
          <a:ln/>
        </p:spPr>
      </p:sp>
      <p:sp>
        <p:nvSpPr>
          <p:cNvPr id="17" name="Text 15"/>
          <p:cNvSpPr/>
          <p:nvPr/>
        </p:nvSpPr>
        <p:spPr>
          <a:xfrm>
            <a:off x="700887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72200" y="283464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Autenticazione 2FA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17920" y="3383280"/>
            <a:ext cx="2221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di verifica inviato via email dopo il login.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41080" y="20574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6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23960" y="1600200"/>
            <a:ext cx="2587752" cy="448056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797796" y="1965960"/>
            <a:ext cx="640080" cy="640080"/>
          </a:xfrm>
          <a:prstGeom prst="ellipse">
            <a:avLst/>
          </a:prstGeom>
          <a:solidFill>
            <a:srgbClr val="436EDE"/>
          </a:solidFill>
          <a:ln/>
        </p:spPr>
      </p:sp>
      <p:sp>
        <p:nvSpPr>
          <p:cNvPr id="23" name="Text 21"/>
          <p:cNvSpPr/>
          <p:nvPr/>
        </p:nvSpPr>
        <p:spPr>
          <a:xfrm>
            <a:off x="979779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61120" y="283464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Ruoli distinti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006840" y="3383280"/>
            <a:ext cx="2221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Utente, Professionista e Admin con permessi separati.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HomeServices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L'Esperienza del Cliente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4617720" cy="470916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8288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Trova Professionista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258568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3F4F8"/>
          </a:solidFill>
          <a:ln w="15875">
            <a:solidFill>
              <a:srgbClr val="436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5856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Cerca per nome o professione…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807208"/>
            <a:ext cx="3977640" cy="365760"/>
          </a:xfrm>
          <a:prstGeom prst="roundRect">
            <a:avLst>
              <a:gd name="adj" fmla="val 12500"/>
            </a:avLst>
          </a:prstGeom>
          <a:solidFill>
            <a:srgbClr val="F3F4F8"/>
          </a:solidFill>
          <a:ln w="9525">
            <a:solidFill>
              <a:srgbClr val="DADA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246120"/>
            <a:ext cx="3977640" cy="365760"/>
          </a:xfrm>
          <a:prstGeom prst="roundRect">
            <a:avLst>
              <a:gd name="adj" fmla="val 12500"/>
            </a:avLst>
          </a:prstGeom>
          <a:solidFill>
            <a:srgbClr val="F3F4F8"/>
          </a:solidFill>
          <a:ln w="9525">
            <a:solidFill>
              <a:srgbClr val="DADA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2461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minimo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685032"/>
            <a:ext cx="3977640" cy="365760"/>
          </a:xfrm>
          <a:prstGeom prst="roundRect">
            <a:avLst>
              <a:gd name="adj" fmla="val 12500"/>
            </a:avLst>
          </a:prstGeom>
          <a:solidFill>
            <a:srgbClr val="F3F4F8"/>
          </a:solidFill>
          <a:ln w="9525">
            <a:solidFill>
              <a:srgbClr val="DADA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6850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disponibile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4123944"/>
            <a:ext cx="3977640" cy="365760"/>
          </a:xfrm>
          <a:prstGeom prst="roundRect">
            <a:avLst>
              <a:gd name="adj" fmla="val 12500"/>
            </a:avLst>
          </a:prstGeom>
          <a:solidFill>
            <a:srgbClr val="F3F4F8"/>
          </a:solidFill>
          <a:ln w="9525">
            <a:solidFill>
              <a:srgbClr val="DADA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12394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Fascia oraria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690872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3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4855464"/>
            <a:ext cx="438912" cy="438912"/>
          </a:xfrm>
          <a:prstGeom prst="ellipse">
            <a:avLst/>
          </a:prstGeom>
          <a:solidFill>
            <a:srgbClr val="5B8C6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855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81912" y="4837176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Rossi — Elettricista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581912" y="51023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A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4.9  (128 recensioni)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5495544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436ED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49554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Invia richiesta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32120" y="1709928"/>
            <a:ext cx="201168" cy="201168"/>
          </a:xfrm>
          <a:prstGeom prst="ellipse">
            <a:avLst/>
          </a:prstGeom>
          <a:solidFill>
            <a:srgbClr val="5B8C6E"/>
          </a:solidFill>
          <a:ln/>
        </p:spPr>
      </p:sp>
      <p:sp>
        <p:nvSpPr>
          <p:cNvPr id="23" name="Text 21"/>
          <p:cNvSpPr/>
          <p:nvPr/>
        </p:nvSpPr>
        <p:spPr>
          <a:xfrm>
            <a:off x="5879592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e filtri avanzati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79592" y="1965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libera per nome o professione, con filtri per città, voto minimo, data e fascia oraria.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32120" y="2761488"/>
            <a:ext cx="201168" cy="201168"/>
          </a:xfrm>
          <a:prstGeom prst="ellipse">
            <a:avLst/>
          </a:prstGeom>
          <a:solidFill>
            <a:srgbClr val="5B8C6E"/>
          </a:solidFill>
          <a:ln/>
        </p:spPr>
      </p:sp>
      <p:sp>
        <p:nvSpPr>
          <p:cNvPr id="26" name="Text 24"/>
          <p:cNvSpPr/>
          <p:nvPr/>
        </p:nvSpPr>
        <p:spPr>
          <a:xfrm>
            <a:off x="5879592" y="2651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 e reputazione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79592" y="30175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recensioni, valutazioni e informazioni operative in un colpo d'occhio.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32120" y="3813048"/>
            <a:ext cx="201168" cy="201168"/>
          </a:xfrm>
          <a:prstGeom prst="ellipse">
            <a:avLst/>
          </a:prstGeom>
          <a:solidFill>
            <a:srgbClr val="5B8C6E"/>
          </a:solidFill>
          <a:ln/>
        </p:spPr>
      </p:sp>
      <p:sp>
        <p:nvSpPr>
          <p:cNvPr id="29" name="Text 27"/>
          <p:cNvSpPr/>
          <p:nvPr/>
        </p:nvSpPr>
        <p:spPr>
          <a:xfrm>
            <a:off x="5879592" y="3703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Sincronizzazione calendario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79592" y="4069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Visualizzazione della disponibilità reale del professionista.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32120" y="4864608"/>
            <a:ext cx="201168" cy="201168"/>
          </a:xfrm>
          <a:prstGeom prst="ellipse">
            <a:avLst/>
          </a:prstGeom>
          <a:solidFill>
            <a:srgbClr val="5B8C6E"/>
          </a:solidFill>
          <a:ln/>
        </p:spPr>
      </p:sp>
      <p:sp>
        <p:nvSpPr>
          <p:cNvPr id="32" name="Text 30"/>
          <p:cNvSpPr/>
          <p:nvPr/>
        </p:nvSpPr>
        <p:spPr>
          <a:xfrm>
            <a:off x="5879592" y="4754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 contestualizzata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79592" y="5120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Indirizzo e descrizione del lavoro allegati alla richiesta.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HomeServices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L'Esperienza del Professionista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2194560" cy="4480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6002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CAA22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2194560" cy="228600"/>
          </a:xfrm>
          <a:prstGeom prst="rect">
            <a:avLst/>
          </a:prstGeom>
          <a:solidFill>
            <a:srgbClr val="CAA22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Attesa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24028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F3F4F8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2402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Manutenzione caldaia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92608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F3F4F8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9260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Riparazione muro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600200"/>
            <a:ext cx="2194560" cy="4480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34640" y="16002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436EDE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4640" y="1828800"/>
            <a:ext cx="2194560" cy="228600"/>
          </a:xfrm>
          <a:prstGeom prst="rect">
            <a:avLst/>
          </a:prstGeom>
          <a:solidFill>
            <a:srgbClr val="436EDE"/>
          </a:solidFill>
          <a:ln/>
        </p:spPr>
      </p:sp>
      <p:sp>
        <p:nvSpPr>
          <p:cNvPr id="14" name="Text 12"/>
          <p:cNvSpPr/>
          <p:nvPr/>
        </p:nvSpPr>
        <p:spPr>
          <a:xfrm>
            <a:off x="297180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Corso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71800" y="224028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F3F4F8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22402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Sostituzione rubinetto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71800" y="292608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F3F4F8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0672" y="29260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Potatura siepe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1600200"/>
            <a:ext cx="2194560" cy="4480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12080" y="16002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5B8C6E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2080" y="1828800"/>
            <a:ext cx="2194560" cy="228600"/>
          </a:xfrm>
          <a:prstGeom prst="rect">
            <a:avLst/>
          </a:prstGeom>
          <a:solidFill>
            <a:srgbClr val="5B8C6E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49240" y="224028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F3F4F8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22402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Manutenzione AC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49240" y="292608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F3F4F8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29260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Tinteggiatura camera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89520" y="1600200"/>
            <a:ext cx="2514600" cy="4480560"/>
          </a:xfrm>
          <a:prstGeom prst="roundRect">
            <a:avLst>
              <a:gd name="adj" fmla="val 2909"/>
            </a:avLst>
          </a:prstGeom>
          <a:solidFill>
            <a:srgbClr val="323D5B"/>
          </a:solidFill>
          <a:ln/>
        </p:spPr>
      </p:sp>
      <p:sp>
        <p:nvSpPr>
          <p:cNvPr id="28" name="Text 26"/>
          <p:cNvSpPr/>
          <p:nvPr/>
        </p:nvSpPr>
        <p:spPr>
          <a:xfrm>
            <a:off x="7818120" y="1874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del profilo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18120" y="22860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Tariffa oraria, veicoli e professioni aggiornabili in autonomia dal proprio pannello.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18120" y="3520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Disponibilità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18120" y="39319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Fasce orarie inserite singolarmente o generate in blocco per l'intera settimana.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HomeServices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Ciclo di Vita di una Richiesta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1975104" cy="420624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52144" y="2057400"/>
            <a:ext cx="585216" cy="585216"/>
          </a:xfrm>
          <a:prstGeom prst="ellipse">
            <a:avLst/>
          </a:prstGeom>
          <a:solidFill>
            <a:srgbClr val="436EDE"/>
          </a:solidFill>
          <a:ln/>
        </p:spPr>
      </p:sp>
      <p:sp>
        <p:nvSpPr>
          <p:cNvPr id="5" name="Text 3"/>
          <p:cNvSpPr/>
          <p:nvPr/>
        </p:nvSpPr>
        <p:spPr>
          <a:xfrm>
            <a:off x="1152144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Richiesta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1700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invia la proposta al professionista scelto.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36876" y="2121408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36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96896" y="1737360"/>
            <a:ext cx="1975104" cy="420624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2057400"/>
            <a:ext cx="585216" cy="585216"/>
          </a:xfrm>
          <a:prstGeom prst="ellipse">
            <a:avLst/>
          </a:prstGeom>
          <a:solidFill>
            <a:srgbClr val="436ED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88336" y="28346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Attesa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734056" y="3337560"/>
            <a:ext cx="1700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professionista valuta la richiesta dal proprio pannello.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6572" y="2121408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36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36592" y="1737360"/>
            <a:ext cx="1975104" cy="420624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31536" y="2057400"/>
            <a:ext cx="585216" cy="585216"/>
          </a:xfrm>
          <a:prstGeom prst="ellipse">
            <a:avLst/>
          </a:prstGeom>
          <a:solidFill>
            <a:srgbClr val="436EDE"/>
          </a:solidFill>
          <a:ln/>
        </p:spPr>
      </p:sp>
      <p:sp>
        <p:nvSpPr>
          <p:cNvPr id="17" name="Text 15"/>
          <p:cNvSpPr/>
          <p:nvPr/>
        </p:nvSpPr>
        <p:spPr>
          <a:xfrm>
            <a:off x="5431536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28032" y="28346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Corso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3752" y="3337560"/>
            <a:ext cx="1700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prestazione viene eseguita all'orario concordato.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16268" y="2121408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36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76288" y="1737360"/>
            <a:ext cx="1975104" cy="420624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71232" y="2057400"/>
            <a:ext cx="585216" cy="585216"/>
          </a:xfrm>
          <a:prstGeom prst="ellipse">
            <a:avLst/>
          </a:prstGeom>
          <a:solidFill>
            <a:srgbClr val="436EDE"/>
          </a:solidFill>
          <a:ln/>
        </p:spPr>
      </p:sp>
      <p:sp>
        <p:nvSpPr>
          <p:cNvPr id="23" name="Text 21"/>
          <p:cNvSpPr/>
          <p:nvPr/>
        </p:nvSpPr>
        <p:spPr>
          <a:xfrm>
            <a:off x="7571232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67728" y="28346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Completata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13448" y="3337560"/>
            <a:ext cx="1700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professionista segna il lavoro come terminato.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855964" y="2121408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36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15984" y="1737360"/>
            <a:ext cx="1975104" cy="420624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710928" y="2057400"/>
            <a:ext cx="585216" cy="585216"/>
          </a:xfrm>
          <a:prstGeom prst="ellipse">
            <a:avLst/>
          </a:prstGeom>
          <a:solidFill>
            <a:srgbClr val="436EDE"/>
          </a:solidFill>
          <a:ln/>
        </p:spPr>
      </p:sp>
      <p:sp>
        <p:nvSpPr>
          <p:cNvPr id="29" name="Text 27"/>
          <p:cNvSpPr/>
          <p:nvPr/>
        </p:nvSpPr>
        <p:spPr>
          <a:xfrm>
            <a:off x="9710928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07424" y="28346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Recensione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153144" y="3337560"/>
            <a:ext cx="1700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valuta il servizio, alimentando il rating.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HomeServices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2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e Sicurezza: il Pannello Admin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6528816" cy="3644537"/>
          </a:xfrm>
          <a:prstGeom prst="roundRect">
            <a:avLst>
              <a:gd name="adj" fmla="val 1505"/>
            </a:avLst>
          </a:prstGeom>
          <a:solidFill>
            <a:srgbClr val="323D5B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proj/hs_extract/img-03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527048"/>
            <a:ext cx="6309360" cy="34250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69480" y="1618488"/>
            <a:ext cx="201168" cy="201168"/>
          </a:xfrm>
          <a:prstGeom prst="ellipse">
            <a:avLst/>
          </a:prstGeom>
          <a:solidFill>
            <a:srgbClr val="B75041"/>
          </a:solidFill>
          <a:ln/>
        </p:spPr>
      </p:sp>
      <p:sp>
        <p:nvSpPr>
          <p:cNvPr id="6" name="Text 3"/>
          <p:cNvSpPr/>
          <p:nvPr/>
        </p:nvSpPr>
        <p:spPr>
          <a:xfrm>
            <a:off x="7616952" y="1508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Approvazioni e segnalazioni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16952" y="189280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le richieste per diventare professionista e le segnalazioni ricevute dagli utenti.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269480" y="3035808"/>
            <a:ext cx="201168" cy="201168"/>
          </a:xfrm>
          <a:prstGeom prst="ellipse">
            <a:avLst/>
          </a:prstGeom>
          <a:solidFill>
            <a:srgbClr val="B75041"/>
          </a:solidFill>
          <a:ln/>
        </p:spPr>
      </p:sp>
      <p:sp>
        <p:nvSpPr>
          <p:cNvPr id="9" name="Text 6"/>
          <p:cNvSpPr/>
          <p:nvPr/>
        </p:nvSpPr>
        <p:spPr>
          <a:xfrm>
            <a:off x="7616952" y="2926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città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16952" y="331012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Aggiunta e modifica delle città disponibili sulla piattaforma.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69480" y="4453128"/>
            <a:ext cx="201168" cy="201168"/>
          </a:xfrm>
          <a:prstGeom prst="ellipse">
            <a:avLst/>
          </a:prstGeom>
          <a:solidFill>
            <a:srgbClr val="B75041"/>
          </a:solidFill>
          <a:ln/>
        </p:spPr>
      </p:sp>
      <p:sp>
        <p:nvSpPr>
          <p:cNvPr id="12" name="Text 9"/>
          <p:cNvSpPr/>
          <p:nvPr/>
        </p:nvSpPr>
        <p:spPr>
          <a:xfrm>
            <a:off x="7616952" y="4343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professioni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16952" y="472744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Aggiunta e rimozione delle categorie professionali offerte.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HomeServices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23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3D4E7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754880"/>
            <a:ext cx="3474720" cy="3474720"/>
          </a:xfrm>
          <a:prstGeom prst="ellipse">
            <a:avLst/>
          </a:prstGeom>
          <a:solidFill>
            <a:srgbClr val="3D4E78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Semplifica la ricerca.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Valorizza il lavoro dei professionisti.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HomeServices — un progetto sviluppato con passione durante il percorso formativo ELIS.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HomeServices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2026-08-23T09:21:44Z</dcterms:created>
  <dcterms:modified xsi:type="dcterms:W3CDTF">2026-08-23T09:21:44Z</dcterms:modified>
</cp:coreProperties>
</file>